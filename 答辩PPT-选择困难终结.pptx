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1" d="100"/>
          <a:sy n="131" d="100"/>
        </p:scale>
        <p:origin x="101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1A1A"/>
                </a:solidFill>
                <a:latin typeface="Microsoft YaHei"/>
              </a:defRPr>
            </a:pPr>
            <a:r>
              <a:t>🎯 选择困难终结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2651760"/>
            <a:ext cx="5029200" cy="640080"/>
          </a:xfrm>
          <a:prstGeom prst="round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0" y="2697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Microsoft YaHei"/>
              </a:defRPr>
            </a:pPr>
            <a:r>
              <a:t>Vibe Coding · 智能决策助手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A7A7A"/>
                </a:solidFill>
                <a:latin typeface="Microsoft YaHei"/>
              </a:defRPr>
            </a:pPr>
            <a:r>
              <a:t>Python 程序设计课程大作业  |  全程 AI 生成，零手写代码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线上：dariaaaa.pythonanywhere.com  |  GitHub：dongyifei0502/choice-terminator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A3A3A"/>
                </a:solidFill>
                <a:latin typeface="Microsoft YaHei"/>
              </a:defRPr>
            </a:pPr>
            <a:r>
              <a:rPr dirty="0" err="1"/>
              <a:t>组员</a:t>
            </a:r>
            <a:r>
              <a:rPr dirty="0"/>
              <a:t>：</a:t>
            </a:r>
            <a:r>
              <a:rPr lang="zh-CN" alt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董一霏</a:t>
            </a:r>
            <a:r>
              <a:rPr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r>
              <a:rPr lang="zh-CN" alt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王佳慧</a:t>
            </a:r>
            <a:r>
              <a:rPr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r>
              <a:rPr lang="zh-CN" alt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陶曼曼</a:t>
            </a:r>
            <a:r>
              <a:rPr sz="1400" dirty="0">
                <a:solidFill>
                  <a:srgbClr val="3A3A3A"/>
                </a:solidFill>
                <a:latin typeface="Microsoft YaHei"/>
              </a:rPr>
              <a:t>  |  </a:t>
            </a:r>
            <a:r>
              <a:rPr sz="1400" dirty="0" err="1">
                <a:solidFill>
                  <a:srgbClr val="3A3A3A"/>
                </a:solidFill>
                <a:latin typeface="Microsoft YaHei"/>
              </a:rPr>
              <a:t>讲师：</a:t>
            </a:r>
            <a:r>
              <a:rPr sz="1400" dirty="0" err="1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李承浩</a:t>
            </a:r>
            <a:r>
              <a:rPr 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洪潇</a:t>
            </a:r>
            <a:r>
              <a:rPr 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dirty="0"/>
              <a:t>|  2026-06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需求设计文档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t>答辩要求 1 — 需求背景与功能设计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03520" cy="219456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📌 需求背景</a:t>
            </a:r>
          </a:p>
          <a:p>
            <a:pPr>
              <a:spcAft>
                <a:spcPts val="400"/>
              </a:spcAft>
              <a:defRPr sz="125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250" b="0">
                <a:solidFill>
                  <a:srgbClr val="3A3A3A"/>
                </a:solidFill>
                <a:latin typeface="Microsoft YaHei"/>
              </a:defRPr>
            </a:pPr>
            <a:r>
              <a:t>• 日常选择困难症：纠结午餐/购物/旅行目的地</a:t>
            </a:r>
          </a:p>
          <a:p>
            <a:pPr>
              <a:spcAft>
                <a:spcPts val="400"/>
              </a:spcAft>
              <a:defRPr sz="1250" b="0">
                <a:solidFill>
                  <a:srgbClr val="3A3A3A"/>
                </a:solidFill>
                <a:latin typeface="Microsoft YaHei"/>
              </a:defRPr>
            </a:pPr>
            <a:r>
              <a:t>• 需要一个多维度加权打分系统，用数据辅助决策</a:t>
            </a:r>
          </a:p>
          <a:p>
            <a:pPr>
              <a:spcAft>
                <a:spcPts val="400"/>
              </a:spcAft>
              <a:defRPr sz="1250" b="0">
                <a:solidFill>
                  <a:srgbClr val="3A3A3A"/>
                </a:solidFill>
                <a:latin typeface="Microsoft YaHei"/>
              </a:defRPr>
            </a:pPr>
            <a:r>
              <a:t>• 需要云端存储历史记录，支持多设备同步</a:t>
            </a:r>
          </a:p>
          <a:p>
            <a:pPr>
              <a:spcAft>
                <a:spcPts val="400"/>
              </a:spcAft>
              <a:defRPr sz="1250" b="0">
                <a:solidFill>
                  <a:srgbClr val="3A3A3A"/>
                </a:solidFill>
                <a:latin typeface="Microsoft YaHei"/>
              </a:defRPr>
            </a:pPr>
            <a:r>
              <a:t>• 用户无需注册即可使用核心决策功能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280160"/>
            <a:ext cx="5669280" cy="219456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📐 设计文档（全部 AI 生成）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📄 需求梳理.md — 项目背景、目标用户、核心功能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📄 PRD-选择困难终结.md — 数据模型、算法、验收标准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📄 开发计划.md — 12步依赖关系 + 完成标准checklist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📄 UI设计规范.md — CSS变量表、组件矩阵、响应式断点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功能模块总览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2960" y="4297680"/>
          <a:ext cx="9509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模块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核心功能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优先级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决策引擎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输入选项 → 场景选择 → 多轮打分 → 加权计算 → 推荐结果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结果展示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推荐Pill + 柱状图(Chart.js) + 理由(规则引擎) + 得分明细表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用户系统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注册/登录/JWT认证(零外部依赖:SHA-256+HMAC)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历史记录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云端SQLite同步 + localStorage兜底 + JSON/CSV导出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管理后台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问题库CRUD(系统+自定义) + 用户封禁管理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系统架构 — 逻辑先行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t>Vibe Coding 要求 1 — 先画架构，再让 AI 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03520" cy="25603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🏗️ 技术架构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965960"/>
            <a:ext cx="411480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205740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Microsoft YaHei"/>
              </a:defRPr>
            </a:pPr>
            <a:r>
              <a:t>前端 SPA (Vanilla JS)</a:t>
            </a:r>
          </a:p>
          <a:p>
            <a:pPr>
              <a:spcAft>
                <a:spcPts val="400"/>
              </a:spcAft>
              <a:defRPr sz="1100" b="0">
                <a:solidFill>
                  <a:srgbClr val="3A3A3A"/>
                </a:solidFill>
                <a:latin typeface="Microsoft YaHei"/>
              </a:defRPr>
            </a:pPr>
            <a:r>
              <a:t>首页→问答→评分→结果→历史→管理</a:t>
            </a:r>
          </a:p>
          <a:p>
            <a:pPr>
              <a:spcAft>
                <a:spcPts val="400"/>
              </a:spcAft>
              <a:defRPr sz="1050" b="0">
                <a:solidFill>
                  <a:srgbClr val="7A7A7A"/>
                </a:solidFill>
                <a:latin typeface="Microsoft YaHei"/>
              </a:defRPr>
            </a:pPr>
            <a:r>
              <a:t>Chart.js / CSS3 / HTML5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971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A7A7A"/>
                </a:solidFill>
                <a:latin typeface="Microsoft YaHei"/>
              </a:defRPr>
            </a:pPr>
            <a:r>
              <a:t>REST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200400"/>
            <a:ext cx="4114800" cy="5486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3246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A1A"/>
                </a:solidFill>
                <a:latin typeface="Microsoft YaHei"/>
              </a:defRPr>
            </a:pPr>
            <a:r>
              <a:t>Python Flask · SQLite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280160"/>
            <a:ext cx="5669280" cy="25603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🔗 12步依赖关系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19" y="1786411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S0脚手架→S1首页→S2问答页→S3评分引擎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                  ↓                      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            S4结果页←S5图表+S6理由        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                  ↓                      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      S7历史→S8导出  S9管理→S10打磨       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                  ↓                      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        </a:t>
            </a:r>
            <a:r>
              <a:rPr dirty="0" err="1"/>
              <a:t>阶段三Flask后端→阶段四封禁系统</a:t>
            </a:r>
            <a:r>
              <a:rPr dirty="0"/>
              <a:t>      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                  ↓                      </a:t>
            </a:r>
          </a:p>
          <a:p>
            <a:pPr>
              <a:spcAft>
                <a:spcPts val="400"/>
              </a:spcAft>
              <a:defRPr sz="1050" b="0">
                <a:solidFill>
                  <a:srgbClr val="1A1A1A"/>
                </a:solidFill>
                <a:latin typeface="Microsoft YaHei"/>
              </a:defRPr>
            </a:pPr>
            <a:r>
              <a:rPr dirty="0"/>
              <a:t>              </a:t>
            </a:r>
            <a:r>
              <a:rPr dirty="0" err="1"/>
              <a:t>阶段五PythonAnywhere部署</a:t>
            </a:r>
            <a:r>
              <a:rPr dirty="0"/>
              <a:t>      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🎯 Vibe Coding 三步原则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709160"/>
            <a:ext cx="3200400" cy="1463040"/>
          </a:xfrm>
          <a:prstGeom prst="rect">
            <a:avLst/>
          </a:prstGeom>
          <a:solidFill>
            <a:srgbClr val="FFF7EC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800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① 逻辑先行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21208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3A3A3A"/>
                </a:solidFill>
                <a:latin typeface="Microsoft YaHei"/>
              </a:defRPr>
            </a:pPr>
            <a:r>
              <a:t>写任一行代码前，先用</a:t>
            </a:r>
            <a:br/>
            <a:r>
              <a:t>文字+流程图梳理核心逻辑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4709160"/>
            <a:ext cx="3200400" cy="1463040"/>
          </a:xfrm>
          <a:prstGeom prst="rect">
            <a:avLst/>
          </a:prstGeom>
          <a:solidFill>
            <a:srgbClr val="FFF6D5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63440" y="4800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② 渐进式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1208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3A3A3A"/>
                </a:solidFill>
                <a:latin typeface="Microsoft YaHei"/>
              </a:defRPr>
            </a:pPr>
            <a:r>
              <a:t>分模块分步骤生成，</a:t>
            </a:r>
            <a:br/>
            <a:r>
              <a:t>不一次写整个系统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4709160"/>
            <a:ext cx="3200400" cy="1463040"/>
          </a:xfrm>
          <a:prstGeom prst="rect">
            <a:avLst/>
          </a:prstGeom>
          <a:solidFill>
            <a:srgbClr val="FFEFEC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599" y="4800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③ 责任归属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521208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3A3A3A"/>
                </a:solidFill>
                <a:latin typeface="Microsoft YaHei"/>
              </a:defRPr>
            </a:pPr>
            <a:r>
              <a:t>小组对运行代码负100%</a:t>
            </a:r>
            <a:br/>
            <a:r>
              <a:t>责任，AI写错不是理由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小组分工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t>三人协作 · Vibe Coding 角色分配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18288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907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rPr dirty="0" err="1"/>
              <a:t>角色分配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7022483"/>
              </p:ext>
            </p:extLst>
          </p:nvPr>
        </p:nvGraphicFramePr>
        <p:xfrm>
          <a:off x="822960" y="1737360"/>
          <a:ext cx="987552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组员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角色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负责模块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AI 工具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组员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需求+架构师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PRD撰写、逻辑梳理、12步开发计划、提示词设计、分步分解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Claude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组员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后端+数据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Flask骨架、认证系统、SQLite数据库、API接口、权限中间件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Claude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组员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前端+部署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SPA页面开发、CSS样式系统、Chart.js图表、PythonAnywhere部署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rPr dirty="0"/>
                        <a:t>Claude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383280"/>
            <a:ext cx="11247120" cy="25603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480775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rPr dirty="0" err="1"/>
              <a:t>各阶段参与度</a:t>
            </a:r>
            <a:endParaRPr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3524384"/>
              </p:ext>
            </p:extLst>
          </p:nvPr>
        </p:nvGraphicFramePr>
        <p:xfrm>
          <a:off x="822960" y="3810807"/>
          <a:ext cx="1051560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A（架构</a:t>
                      </a:r>
                      <a:r>
                        <a:rPr dirty="0"/>
                        <a:t>）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B（后端）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C（前端）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需求分析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★ 主导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参与讨论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参与讨论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12步开发计划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★ 主导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提供反馈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提供反馈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Flask后端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审核API设计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★ 主导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前端6页面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★ 主导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四维改进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★ 方案设计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配合调整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配合调整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用户+封禁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★ 主导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前端对接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PythonAnywhere部署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协助排查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rPr dirty="0"/>
                        <a:t>★ </a:t>
                      </a:r>
                      <a:r>
                        <a:rPr dirty="0" err="1"/>
                        <a:t>主导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系统演示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rPr dirty="0" err="1"/>
              <a:t>答辩要求</a:t>
            </a:r>
            <a:r>
              <a:rPr dirty="0"/>
              <a:t> 2 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292608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演示路径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828800"/>
          <a:ext cx="10058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657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顺序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演示内容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时长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展示重点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打开网站 → 首页场景选择 + 输入选项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30s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4种场景切换、标签解析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问答页：5道题逐题打分 + 进度条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滑块交互、权重Badge、前后导航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结果页：推荐 + 柱状图 + 理由 + 明细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暖黄推荐pill、Chart.js动画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平局场景演示：🎲 随机 + 换一个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30s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同分随机选、换一个按钮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登录(admin/admin123) → 管理问题库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CRUD操作、场景筛选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57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用户管理：封禁/解封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管理员专属、实时生效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480560"/>
            <a:ext cx="11247120" cy="18288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演示要点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0">
                <a:solidFill>
                  <a:srgbClr val="3A3A3A"/>
                </a:solidFill>
                <a:latin typeface="Microsoft YaHei"/>
              </a:defRPr>
            </a:pPr>
            <a:r>
              <a:t>🎯 展示 4 种决策场景（餐饮/购物/旅行/通用），切换场景时 placeholder 联动变化</a:t>
            </a:r>
          </a:p>
          <a:p>
            <a:pPr>
              <a:spcAft>
                <a:spcPts val="400"/>
              </a:spcAft>
              <a:defRPr sz="1250" b="0">
                <a:solidFill>
                  <a:srgbClr val="3A3A3A"/>
                </a:solidFill>
                <a:latin typeface="Microsoft YaHei"/>
              </a:defRPr>
            </a:pPr>
            <a:r>
              <a:t>👤 展示用户注册 → 自动登录 → 云端历史同步流程</a:t>
            </a:r>
          </a:p>
          <a:p>
            <a:pPr>
              <a:spcAft>
                <a:spcPts val="400"/>
              </a:spcAft>
              <a:defRPr sz="1250" b="0">
                <a:solidFill>
                  <a:srgbClr val="3A3A3A"/>
                </a:solidFill>
                <a:latin typeface="Microsoft YaHei"/>
              </a:defRPr>
            </a:pPr>
            <a:r>
              <a:t>⚙️ 展示管理页 Tab 切换（问题管理 / 用户管理），来源列区分"系统"与"自定义"</a:t>
            </a:r>
          </a:p>
          <a:p>
            <a:pPr>
              <a:spcAft>
                <a:spcPts val="400"/>
              </a:spcAft>
              <a:defRPr sz="1250" b="0">
                <a:solidFill>
                  <a:srgbClr val="3A3A3A"/>
                </a:solidFill>
                <a:latin typeface="Microsoft YaHei"/>
              </a:defRPr>
            </a:pPr>
            <a:r>
              <a:t>🔒 展示管理员专属权限：系统题不可被普通用户修改删除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最棒的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t>答辩要求 3-展示1 — 精确引导 AI 写出正确代码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713232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Prompt 原文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6400800" cy="3642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A3A3A"/>
                </a:solidFill>
                <a:latin typeface="Microsoft YaHei"/>
              </a:defRPr>
            </a:pPr>
            <a:r>
              <a:rPr sz="1600" dirty="0"/>
              <a:t>"</a:t>
            </a:r>
            <a:r>
              <a:rPr sz="1600" dirty="0" err="1"/>
              <a:t>你现在是</a:t>
            </a:r>
            <a:r>
              <a:rPr sz="1600" dirty="0"/>
              <a:t> Step 2：问答页的开发。</a:t>
            </a:r>
            <a:endParaRPr lang="en-US" sz="1600" dirty="0"/>
          </a:p>
          <a:p>
            <a:pPr>
              <a:spcAft>
                <a:spcPts val="400"/>
              </a:spcAft>
              <a:defRPr sz="1100" b="0">
                <a:solidFill>
                  <a:srgbClr val="3A3A3A"/>
                </a:solidFill>
                <a:latin typeface="Microsoft YaHei"/>
              </a:defRPr>
            </a:pPr>
            <a:r>
              <a:rPr sz="1600" dirty="0" err="1"/>
              <a:t>依赖</a:t>
            </a:r>
            <a:r>
              <a:rPr sz="1600" dirty="0"/>
              <a:t> Step 0 和 Step 1。请实现：</a:t>
            </a:r>
            <a:endParaRPr lang="en-US" sz="1600" dirty="0"/>
          </a:p>
          <a:p>
            <a:pPr>
              <a:spcAft>
                <a:spcPts val="400"/>
              </a:spcAft>
              <a:defRPr sz="1100" b="0">
                <a:solidFill>
                  <a:srgbClr val="3A3A3A"/>
                </a:solidFill>
                <a:latin typeface="Microsoft YaHei"/>
              </a:defRPr>
            </a:pPr>
            <a:r>
              <a:rPr sz="1600" dirty="0"/>
              <a:t>1. </a:t>
            </a:r>
            <a:r>
              <a:rPr sz="1600" dirty="0" err="1"/>
              <a:t>创建</a:t>
            </a:r>
            <a:r>
              <a:rPr sz="1600" dirty="0"/>
              <a:t> </a:t>
            </a:r>
            <a:r>
              <a:rPr sz="1600" dirty="0" err="1"/>
              <a:t>js</a:t>
            </a:r>
            <a:r>
              <a:rPr sz="1600" dirty="0"/>
              <a:t>/router.js — </a:t>
            </a:r>
            <a:r>
              <a:rPr sz="1600" dirty="0" err="1"/>
              <a:t>页面切换函数（display</a:t>
            </a:r>
            <a:r>
              <a:rPr sz="1600" dirty="0"/>
              <a:t> </a:t>
            </a:r>
            <a:r>
              <a:rPr sz="1600" dirty="0" err="1"/>
              <a:t>显隐</a:t>
            </a:r>
            <a:r>
              <a:rPr sz="1600" dirty="0"/>
              <a:t> + </a:t>
            </a:r>
            <a:r>
              <a:rPr sz="1600" dirty="0" err="1"/>
              <a:t>init</a:t>
            </a:r>
            <a:r>
              <a:rPr sz="1600" dirty="0"/>
              <a:t> </a:t>
            </a:r>
            <a:r>
              <a:rPr sz="1600" dirty="0" err="1"/>
              <a:t>函数</a:t>
            </a:r>
            <a:r>
              <a:rPr sz="1600" dirty="0"/>
              <a:t>）</a:t>
            </a:r>
            <a:br>
              <a:rPr sz="1600" dirty="0"/>
            </a:br>
            <a:r>
              <a:rPr sz="1600" dirty="0"/>
              <a:t>2. </a:t>
            </a:r>
            <a:r>
              <a:rPr sz="1600" dirty="0" err="1"/>
              <a:t>创建</a:t>
            </a:r>
            <a:r>
              <a:rPr sz="1600" dirty="0"/>
              <a:t> </a:t>
            </a:r>
            <a:r>
              <a:rPr sz="1600" dirty="0" err="1"/>
              <a:t>js</a:t>
            </a:r>
            <a:r>
              <a:rPr sz="1600" dirty="0"/>
              <a:t>/services/questionService.js — </a:t>
            </a:r>
            <a:r>
              <a:rPr sz="1600" dirty="0" err="1"/>
              <a:t>selectQuestions</a:t>
            </a:r>
            <a:r>
              <a:rPr sz="1600" dirty="0"/>
              <a:t>() </a:t>
            </a:r>
            <a:r>
              <a:rPr sz="1600" dirty="0" err="1"/>
              <a:t>按权重排序选题</a:t>
            </a:r>
            <a:br>
              <a:rPr sz="1600" dirty="0"/>
            </a:br>
            <a:r>
              <a:rPr sz="1600" dirty="0"/>
              <a:t>3. </a:t>
            </a:r>
            <a:r>
              <a:rPr sz="1600" dirty="0" err="1"/>
              <a:t>创建</a:t>
            </a:r>
            <a:r>
              <a:rPr sz="1600" dirty="0"/>
              <a:t> </a:t>
            </a:r>
            <a:r>
              <a:rPr sz="1600" dirty="0" err="1"/>
              <a:t>js</a:t>
            </a:r>
            <a:r>
              <a:rPr sz="1600" dirty="0"/>
              <a:t>/components/progressBar.js — </a:t>
            </a:r>
            <a:r>
              <a:rPr lang="en-US" sz="1600" dirty="0"/>
              <a:t>       </a:t>
            </a:r>
            <a:r>
              <a:rPr sz="1600" dirty="0" err="1"/>
              <a:t>updateProgress</a:t>
            </a:r>
            <a:r>
              <a:rPr sz="1600" dirty="0"/>
              <a:t>(current, total)</a:t>
            </a:r>
            <a:br>
              <a:rPr sz="1600" dirty="0"/>
            </a:br>
            <a:r>
              <a:rPr sz="1600" dirty="0"/>
              <a:t>4. </a:t>
            </a:r>
            <a:r>
              <a:rPr sz="1600" dirty="0" err="1"/>
              <a:t>创建</a:t>
            </a:r>
            <a:r>
              <a:rPr sz="1600" dirty="0"/>
              <a:t> </a:t>
            </a:r>
            <a:r>
              <a:rPr sz="1600" dirty="0" err="1"/>
              <a:t>js</a:t>
            </a:r>
            <a:r>
              <a:rPr sz="1600" dirty="0"/>
              <a:t>/components/slider.js — 滑块渲染（默认值3）+</a:t>
            </a:r>
            <a:br>
              <a:rPr sz="1600" dirty="0"/>
            </a:br>
            <a:r>
              <a:rPr sz="1600" dirty="0"/>
              <a:t>   </a:t>
            </a:r>
            <a:r>
              <a:rPr sz="1600" dirty="0" err="1"/>
              <a:t>bindSliderEvents</a:t>
            </a:r>
            <a:r>
              <a:rPr sz="1600" dirty="0"/>
              <a:t>() </a:t>
            </a:r>
            <a:r>
              <a:rPr sz="1600" dirty="0" err="1"/>
              <a:t>实时更新分数</a:t>
            </a:r>
            <a:r>
              <a:rPr sz="1600" dirty="0"/>
              <a:t>（&gt;=4 加 .high 类）+ </a:t>
            </a:r>
            <a:r>
              <a:rPr lang="en-US" sz="1600" dirty="0"/>
              <a:t>  </a:t>
            </a:r>
            <a:r>
              <a:rPr sz="1600" dirty="0" err="1"/>
              <a:t>collectScores</a:t>
            </a:r>
            <a:r>
              <a:rPr sz="1600" dirty="0"/>
              <a:t>()</a:t>
            </a:r>
            <a:br>
              <a:rPr sz="1600" dirty="0"/>
            </a:br>
            <a:r>
              <a:rPr sz="1600" dirty="0"/>
              <a:t>5. </a:t>
            </a:r>
            <a:r>
              <a:rPr sz="1600" dirty="0" err="1"/>
              <a:t>修改</a:t>
            </a:r>
            <a:r>
              <a:rPr sz="1600" dirty="0"/>
              <a:t> index.html </a:t>
            </a:r>
            <a:r>
              <a:rPr sz="1600" dirty="0" err="1"/>
              <a:t>为多页面容器</a:t>
            </a:r>
            <a:br>
              <a:rPr sz="1600" dirty="0"/>
            </a:br>
            <a:r>
              <a:rPr sz="1600" dirty="0"/>
              <a:t>6. </a:t>
            </a:r>
            <a:r>
              <a:rPr sz="1600" dirty="0" err="1"/>
              <a:t>修改</a:t>
            </a:r>
            <a:r>
              <a:rPr sz="1600" dirty="0"/>
              <a:t> app.js </a:t>
            </a:r>
            <a:r>
              <a:rPr sz="1600" dirty="0" err="1"/>
              <a:t>整合路由</a:t>
            </a:r>
            <a:r>
              <a:rPr sz="1600" dirty="0"/>
              <a:t> + </a:t>
            </a:r>
            <a:r>
              <a:rPr sz="1600" dirty="0" err="1"/>
              <a:t>问答页逻辑</a:t>
            </a:r>
            <a:br>
              <a:rPr sz="1600" dirty="0"/>
            </a:br>
            <a:r>
              <a:rPr sz="1600" dirty="0"/>
              <a:t>完成标准：首页输入3选项→进入问答→进度条+权重badge→滑块打分→前后导航→最后一题变粉色"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280160"/>
            <a:ext cx="384048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417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为什么有效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3200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EDB3"/>
                </a:solidFill>
                <a:latin typeface="Microsoft YaHei"/>
              </a:defRPr>
            </a:pPr>
            <a:r>
              <a:rPr sz="1300" dirty="0">
                <a:solidFill>
                  <a:srgbClr val="FFC000"/>
                </a:solidFill>
              </a:rPr>
              <a:t>① </a:t>
            </a:r>
            <a:r>
              <a:rPr sz="1300" dirty="0" err="1">
                <a:solidFill>
                  <a:srgbClr val="FFC000"/>
                </a:solidFill>
              </a:rPr>
              <a:t>明确前置依赖</a:t>
            </a:r>
            <a:endParaRPr sz="1300" dirty="0">
              <a:solidFill>
                <a:srgbClr val="FFC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sz="1200" dirty="0"/>
              <a:t>"</a:t>
            </a:r>
            <a:r>
              <a:rPr sz="1200" dirty="0" err="1"/>
              <a:t>依赖Step</a:t>
            </a:r>
            <a:r>
              <a:rPr sz="1200" dirty="0"/>
              <a:t> 0和Step 1" → </a:t>
            </a:r>
            <a:r>
              <a:rPr sz="1200" dirty="0" err="1"/>
              <a:t>AI不会重复造轮子</a:t>
            </a:r>
            <a:endParaRPr sz="1200" dirty="0"/>
          </a:p>
        </p:txBody>
      </p:sp>
      <p:sp>
        <p:nvSpPr>
          <p:cNvPr id="12" name="TextBox 11"/>
          <p:cNvSpPr txBox="1"/>
          <p:nvPr/>
        </p:nvSpPr>
        <p:spPr>
          <a:xfrm>
            <a:off x="8229600" y="2743200"/>
            <a:ext cx="3200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EDB3"/>
                </a:solidFill>
                <a:latin typeface="Microsoft YaHei"/>
              </a:defRPr>
            </a:pPr>
            <a:r>
              <a:rPr sz="1300" dirty="0">
                <a:solidFill>
                  <a:srgbClr val="FFC000"/>
                </a:solidFill>
              </a:rPr>
              <a:t>② </a:t>
            </a:r>
            <a:r>
              <a:rPr sz="1300" dirty="0" err="1">
                <a:solidFill>
                  <a:srgbClr val="FFC000"/>
                </a:solidFill>
              </a:rPr>
              <a:t>分模块编号</a:t>
            </a:r>
            <a:endParaRPr sz="1300" dirty="0">
              <a:solidFill>
                <a:srgbClr val="FFC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0" y="3017520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sz="1200" dirty="0"/>
              <a:t>6个子任务清晰独立 → </a:t>
            </a:r>
            <a:r>
              <a:rPr sz="1200" dirty="0" err="1"/>
              <a:t>AI不会遗漏</a:t>
            </a:r>
            <a:endParaRPr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8229600" y="3566160"/>
            <a:ext cx="3200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EDB3"/>
                </a:solidFill>
                <a:latin typeface="Microsoft YaHei"/>
              </a:defRPr>
            </a:pPr>
            <a:r>
              <a:rPr sz="1300" dirty="0">
                <a:solidFill>
                  <a:srgbClr val="FFC000"/>
                </a:solidFill>
              </a:rPr>
              <a:t>③ </a:t>
            </a:r>
            <a:r>
              <a:rPr sz="1300" dirty="0" err="1">
                <a:solidFill>
                  <a:srgbClr val="FFC000"/>
                </a:solidFill>
              </a:rPr>
              <a:t>指定函数签名</a:t>
            </a:r>
            <a:endParaRPr sz="1300" dirty="0">
              <a:solidFill>
                <a:srgbClr val="FFC0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sz="1200" dirty="0" err="1"/>
              <a:t>updateProgress</a:t>
            </a:r>
            <a:r>
              <a:rPr sz="1200" dirty="0"/>
              <a:t>(</a:t>
            </a:r>
            <a:r>
              <a:rPr sz="1200" dirty="0" err="1"/>
              <a:t>current,total</a:t>
            </a:r>
            <a:r>
              <a:rPr sz="1200" dirty="0"/>
              <a:t>) → </a:t>
            </a:r>
            <a:r>
              <a:rPr sz="1200" dirty="0" err="1"/>
              <a:t>入参类型被约束</a:t>
            </a:r>
            <a:endParaRPr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8229600" y="4389120"/>
            <a:ext cx="3200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EDB3"/>
                </a:solidFill>
                <a:latin typeface="Microsoft YaHei"/>
              </a:defRPr>
            </a:pPr>
            <a:r>
              <a:rPr sz="1300" dirty="0">
                <a:solidFill>
                  <a:srgbClr val="FFC000"/>
                </a:solidFill>
              </a:rPr>
              <a:t>④ </a:t>
            </a:r>
            <a:r>
              <a:rPr sz="1300" dirty="0" err="1">
                <a:solidFill>
                  <a:srgbClr val="FFC000"/>
                </a:solidFill>
              </a:rPr>
              <a:t>附完成标准</a:t>
            </a:r>
            <a:endParaRPr sz="1300" dirty="0">
              <a:solidFill>
                <a:srgbClr val="FFC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0" y="4663440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sz="1200" dirty="0" err="1"/>
              <a:t>验收条件可自我验证</a:t>
            </a:r>
            <a:r>
              <a:rPr sz="1200" dirty="0"/>
              <a:t> → </a:t>
            </a:r>
            <a:r>
              <a:rPr sz="1200" dirty="0" err="1"/>
              <a:t>AI输出更精准</a:t>
            </a:r>
            <a:endParaRPr sz="1200"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0" y="5212080"/>
            <a:ext cx="3200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EDB3"/>
                </a:solidFill>
                <a:latin typeface="Microsoft YaHei"/>
              </a:defRPr>
            </a:pPr>
            <a:r>
              <a:rPr sz="1300" dirty="0">
                <a:solidFill>
                  <a:srgbClr val="FFC000"/>
                </a:solidFill>
              </a:rPr>
              <a:t>⑤ </a:t>
            </a:r>
            <a:r>
              <a:rPr sz="1300" dirty="0" err="1">
                <a:solidFill>
                  <a:srgbClr val="FFC000"/>
                </a:solidFill>
              </a:rPr>
              <a:t>上下文完整</a:t>
            </a:r>
            <a:endParaRPr sz="1300" dirty="0">
              <a:solidFill>
                <a:srgbClr val="FFC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9600" y="5486400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rPr sz="1200" dirty="0" err="1"/>
              <a:t>单次会话独立理解</a:t>
            </a:r>
            <a:r>
              <a:rPr sz="1200" dirty="0"/>
              <a:t> → </a:t>
            </a:r>
            <a:r>
              <a:rPr sz="1200" dirty="0" err="1"/>
              <a:t>不需要之前对话</a:t>
            </a:r>
            <a:endParaRPr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AI 犯错案例 ×3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t>答辩要求 3-展示2 — 发现AI幻觉并引导修复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56616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❌ 案例1：循环导入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AI 写的代码：</a:t>
            </a:r>
          </a:p>
          <a:p>
            <a:pPr>
              <a:spcAft>
                <a:spcPts val="400"/>
              </a:spcAft>
              <a:defRPr sz="1000" b="0">
                <a:solidFill>
                  <a:srgbClr val="7A7A7A"/>
                </a:solidFill>
                <a:latin typeface="Microsoft YaHei"/>
              </a:defRPr>
            </a:pPr>
            <a:r>
              <a:t># app.py</a:t>
            </a:r>
          </a:p>
          <a:p>
            <a:pPr>
              <a:spcAft>
                <a:spcPts val="400"/>
              </a:spcAft>
              <a:defRPr sz="1000" b="0">
                <a:solidFill>
                  <a:srgbClr val="D94A3A"/>
                </a:solidFill>
                <a:latin typeface="Microsoft YaHei"/>
              </a:defRPr>
            </a:pPr>
            <a:r>
              <a:t>from backend.auth import auth_bp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000" b="0">
                <a:solidFill>
                  <a:srgbClr val="7A7A7A"/>
                </a:solidFill>
                <a:latin typeface="Microsoft YaHei"/>
              </a:defRPr>
            </a:pPr>
            <a:r>
              <a:t># backend/auth.py</a:t>
            </a:r>
          </a:p>
          <a:p>
            <a:pPr>
              <a:spcAft>
                <a:spcPts val="400"/>
              </a:spcAft>
              <a:defRPr sz="1000" b="0">
                <a:solidFill>
                  <a:srgbClr val="D94A3A"/>
                </a:solidFill>
                <a:latin typeface="Microsoft YaHei"/>
              </a:defRPr>
            </a:pPr>
            <a:r>
              <a:t>from app import get_db  ← 循环!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发现：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启动报 ImportError →</a:t>
            </a:r>
            <a:br/>
            <a:r>
              <a:t>Python循环导入经典错误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修复：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提取 db.py 独立模块,</a:t>
            </a:r>
            <a:br/>
            <a:r>
              <a:t>app.py 和 auth.py</a:t>
            </a:r>
            <a:br/>
            <a:r>
              <a:t>都从 backend.db 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280160"/>
            <a:ext cx="356616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❌ 案例2：参数顺序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2880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AI 写的代码：</a:t>
            </a:r>
          </a:p>
          <a:p>
            <a:pPr>
              <a:spcAft>
                <a:spcPts val="400"/>
              </a:spcAft>
              <a:defRPr sz="1000" b="0">
                <a:solidFill>
                  <a:srgbClr val="3A3A3A"/>
                </a:solidFill>
                <a:latin typeface="Microsoft YaHei"/>
              </a:defRPr>
            </a:pPr>
            <a:r>
              <a:t>Store.setUser(</a:t>
            </a:r>
          </a:p>
          <a:p>
            <a:pPr>
              <a:spcAft>
                <a:spcPts val="400"/>
              </a:spcAft>
              <a:defRPr sz="1000" b="0">
                <a:solidFill>
                  <a:srgbClr val="D94A3A"/>
                </a:solidFill>
                <a:latin typeface="Microsoft YaHei"/>
              </a:defRPr>
            </a:pPr>
            <a:r>
              <a:t>  data.user.username,</a:t>
            </a:r>
          </a:p>
          <a:p>
            <a:pPr>
              <a:spcAft>
                <a:spcPts val="400"/>
              </a:spcAft>
              <a:defRPr sz="1000" b="0">
                <a:solidFill>
                  <a:srgbClr val="D94A3A"/>
                </a:solidFill>
                <a:latin typeface="Microsoft YaHei"/>
              </a:defRPr>
            </a:pPr>
            <a:r>
              <a:t>  data.user.role,</a:t>
            </a:r>
          </a:p>
          <a:p>
            <a:pPr>
              <a:spcAft>
                <a:spcPts val="400"/>
              </a:spcAft>
              <a:defRPr sz="1000" b="0">
                <a:solidFill>
                  <a:srgbClr val="D94A3A"/>
                </a:solidFill>
                <a:latin typeface="Microsoft YaHei"/>
              </a:defRPr>
            </a:pPr>
            <a:r>
              <a:t>  data.token</a:t>
            </a:r>
          </a:p>
          <a:p>
            <a:pPr>
              <a:spcAft>
                <a:spcPts val="400"/>
              </a:spcAft>
              <a:defRPr sz="1000" b="0">
                <a:solidFill>
                  <a:srgbClr val="3A3A3A"/>
                </a:solidFill>
                <a:latin typeface="Microsoft YaHei"/>
              </a:defRPr>
            </a:pPr>
            <a:r>
              <a:t>);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实际签名：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setUser(token, username, role)</a:t>
            </a:r>
          </a:p>
          <a:p>
            <a:pPr>
              <a:spcAft>
                <a:spcPts val="400"/>
              </a:spcAft>
              <a:defRPr sz="1050" b="0">
                <a:solidFill>
                  <a:srgbClr val="D94A3A"/>
                </a:solidFill>
                <a:latin typeface="Microsoft YaHei"/>
              </a:defRPr>
            </a:pPr>
            <a:r>
              <a:t>                     ↑ 顺序反了!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发现：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登录后用户名显示为</a:t>
            </a:r>
            <a:br/>
            <a:r>
              <a:t>token 字符串 → 排查到</a:t>
            </a:r>
            <a:br/>
            <a:r>
              <a:t>参数传反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修复：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全局替换参数顺序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280160"/>
            <a:ext cx="356616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❌ 案例3：依赖缺失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82880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AI 使用了：</a:t>
            </a:r>
          </a:p>
          <a:p>
            <a:pPr>
              <a:spcAft>
                <a:spcPts val="400"/>
              </a:spcAft>
              <a:defRPr sz="1100" b="0">
                <a:solidFill>
                  <a:srgbClr val="D94A3A"/>
                </a:solidFill>
                <a:latin typeface="Microsoft YaHei"/>
              </a:defRPr>
            </a:pPr>
            <a:r>
              <a:t>flask-cors, bcrypt, pyjwt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PythonAnywhere 免费版</a:t>
            </a:r>
          </a:p>
          <a:p>
            <a:pPr>
              <a:spcAft>
                <a:spcPts val="400"/>
              </a:spcAft>
              <a:defRPr sz="1050" b="0">
                <a:solidFill>
                  <a:srgbClr val="D94A3A"/>
                </a:solidFill>
                <a:latin typeface="Microsoft YaHei"/>
              </a:defRPr>
            </a:pPr>
            <a:r>
              <a:t>无法 pip install 这些包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发现：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部署后 HTTP 500,</a:t>
            </a:r>
            <a:br/>
            <a:r>
              <a:t>错误日志空白 →</a:t>
            </a:r>
            <a:br/>
            <a:r>
              <a:t>逐个排查依赖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100" b="1">
                <a:solidFill>
                  <a:srgbClr val="3A3A3A"/>
                </a:solidFill>
                <a:latin typeface="Microsoft YaHei"/>
              </a:defRPr>
            </a:pPr>
            <a:r>
              <a:t>修复 Prompt：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"用纯标准库替代：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hashlib→bcrypt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hmac→PyJWT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手写after_request→CORS"</a:t>
            </a:r>
          </a:p>
          <a:p>
            <a:pPr>
              <a:spcAft>
                <a:spcPts val="400"/>
              </a:spcAft>
              <a:defRPr sz="1050" b="0">
                <a:solidFill>
                  <a:srgbClr val="3A3A3A"/>
                </a:solidFill>
                <a:latin typeface="Microsoft YaHei"/>
              </a:defRPr>
            </a:pPr>
            <a:r>
              <a:t>最终 requirements.txt</a:t>
            </a:r>
            <a:br/>
            <a:r>
              <a:t>只需要 flask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Vibe Coding 使用反思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t>答辩要求 4 — 好的方面、不足、核心体会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8988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rPr dirty="0"/>
              <a:t>✅ </a:t>
            </a:r>
            <a:r>
              <a:rPr dirty="0" err="1"/>
              <a:t>好的方面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23638"/>
              </p:ext>
            </p:extLst>
          </p:nvPr>
        </p:nvGraphicFramePr>
        <p:xfrm>
          <a:off x="822959" y="1755648"/>
          <a:ext cx="491172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42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475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优势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说明</a:t>
                      </a:r>
                      <a:endParaRPr dirty="0"/>
                    </a:p>
                  </a:txBody>
                  <a:tcPr>
                    <a:solidFill>
                      <a:srgbClr val="FFED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🚀 效率极高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12步前端+4步后端+部署，1天内完成，传统至少1周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📐 结构清晰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AI严格按照开发计划的依赖关系执行，不跳过依赖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🔧 改起来快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"四维改进"四个问题一次对话全部解决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🌐 部署全程AI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从render.yaml到PythonAnywhere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API上传文件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38988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rPr dirty="0"/>
              <a:t>⚠️ </a:t>
            </a:r>
            <a:r>
              <a:rPr dirty="0" err="1"/>
              <a:t>需要改进</a:t>
            </a:r>
            <a:endParaRPr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870246"/>
              </p:ext>
            </p:extLst>
          </p:nvPr>
        </p:nvGraphicFramePr>
        <p:xfrm>
          <a:off x="6614160" y="1737360"/>
          <a:ext cx="4907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5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不足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⚠️ AI幻觉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AI会用不存在的API(如PythonAnywhere console API)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🧪 测试依赖人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AI无法自动打开浏览器测试，验证全靠人工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📝 Prompt质量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描述不清时AI写出"看起来对但实际不完整"的代码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🔐 安全需审查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认证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加密代码需人工确认逻辑正确性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solidFill>
            <a:srgbClr val="FFF7EC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💡 核心体会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rPr dirty="0"/>
              <a:t>Vibe Coding ≠ </a:t>
            </a:r>
            <a:r>
              <a:rPr dirty="0" err="1"/>
              <a:t>不思考。恰恰相反，它要求更强的「架构思维」和「Prompt</a:t>
            </a:r>
            <a:r>
              <a:rPr dirty="0"/>
              <a:t> </a:t>
            </a:r>
            <a:r>
              <a:rPr dirty="0" err="1"/>
              <a:t>设计能力</a:t>
            </a:r>
            <a:r>
              <a:rPr dirty="0"/>
              <a:t>」。</a:t>
            </a:r>
          </a:p>
          <a:p>
            <a:pPr>
              <a:spcAft>
                <a:spcPts val="400"/>
              </a:spcAft>
              <a:defRPr sz="600" b="0">
                <a:solidFill>
                  <a:srgbClr val="3A3A3A"/>
                </a:solidFill>
                <a:latin typeface="Microsoft YaHei"/>
              </a:defRPr>
            </a:pPr>
            <a:endParaRPr dirty="0"/>
          </a:p>
          <a:p>
            <a:pPr>
              <a:spcAft>
                <a:spcPts val="400"/>
              </a:spcAft>
              <a:defRPr sz="1300" b="0">
                <a:solidFill>
                  <a:srgbClr val="3A3A3A"/>
                </a:solidFill>
                <a:latin typeface="Microsoft YaHei"/>
              </a:defRPr>
            </a:pPr>
            <a:r>
              <a:rPr dirty="0" err="1"/>
              <a:t>你不需要写代码，但你必须</a:t>
            </a:r>
            <a:r>
              <a:rPr dirty="0"/>
              <a:t>：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1. </a:t>
            </a:r>
            <a:r>
              <a:rPr dirty="0" err="1"/>
              <a:t>把大问题拆成小步骤（分模块、分步骤</a:t>
            </a:r>
            <a:r>
              <a:rPr dirty="0"/>
              <a:t>）→ 开发计划.md 就是12个AI能消化的粒度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2. </a:t>
            </a:r>
            <a:r>
              <a:rPr dirty="0" err="1"/>
              <a:t>每一步清晰定义输入、输出、边界条件</a:t>
            </a:r>
            <a:r>
              <a:rPr dirty="0"/>
              <a:t> → </a:t>
            </a:r>
            <a:r>
              <a:rPr dirty="0" err="1"/>
              <a:t>每步的"目标+涉及文件+完成标准"格式</a:t>
            </a:r>
            <a:endParaRPr dirty="0"/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3. </a:t>
            </a:r>
            <a:r>
              <a:rPr dirty="0" err="1"/>
              <a:t>亲自验证每一步的输出是否正确</a:t>
            </a:r>
            <a:r>
              <a:rPr dirty="0"/>
              <a:t> → </a:t>
            </a:r>
            <a:r>
              <a:rPr dirty="0" err="1"/>
              <a:t>启动→登录→打分→部署，全流程人工测试</a:t>
            </a:r>
            <a:endParaRPr dirty="0"/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  4. </a:t>
            </a:r>
            <a:r>
              <a:rPr dirty="0" err="1"/>
              <a:t>对最终代码负</a:t>
            </a:r>
            <a:r>
              <a:rPr dirty="0"/>
              <a:t> 100% </a:t>
            </a:r>
            <a:r>
              <a:rPr dirty="0" err="1"/>
              <a:t>责任</a:t>
            </a:r>
            <a:r>
              <a:rPr dirty="0"/>
              <a:t> → "</a:t>
            </a:r>
            <a:r>
              <a:rPr dirty="0" err="1"/>
              <a:t>AI写错了"不是报错理由，你必须找到错误并修好它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Vibe Coding 完整规划过程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t>从零到一的5步规划 — 全部由AI辅助完成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18288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637808"/>
              </p:ext>
            </p:extLst>
          </p:nvPr>
        </p:nvGraphicFramePr>
        <p:xfrm>
          <a:off x="839007" y="1326323"/>
          <a:ext cx="10515600" cy="172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顺序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产出物</a:t>
                      </a:r>
                      <a:endParaRPr dirty="0"/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AI做了什么</a:t>
                      </a:r>
                      <a:endParaRPr dirty="0"/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我做了什么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需求梳理.md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根据场景描述生成结构化需求文档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描述场景、目标用户、核心功能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PRD-选择困难终结.md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扩展为完整PRD(数据模型/算法/验收标准)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审核功能定义、补充边界条件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开发计划.md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拆解为12步依赖关系图+完成标准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确认依赖关系、调整步长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demo.html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生成静态设计Demo(5页面+Chart.js)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检查视觉风格、调整配色布局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UI设计规范.md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从Demo提取完整设计规范文档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确认规范一致性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383280"/>
            <a:ext cx="5486400" cy="3017520"/>
          </a:xfrm>
          <a:prstGeom prst="rect">
            <a:avLst/>
          </a:prstGeom>
          <a:solidFill>
            <a:srgbClr val="FFF6D5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⭐ 最关键的一步：开发计划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这是把 PRD 变成 AI 可执行指令的核心转化：</a:t>
            </a:r>
          </a:p>
          <a:p>
            <a:pPr>
              <a:spcAft>
                <a:spcPts val="400"/>
              </a:spcAft>
              <a:defRPr sz="4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150" b="0">
                <a:solidFill>
                  <a:srgbClr val="3A3A3A"/>
                </a:solidFill>
                <a:latin typeface="Microsoft YaHei"/>
              </a:defRPr>
            </a:pPr>
            <a:r>
              <a:t>① 拆解粒度：3500行代码分成12步，每步AI能一次消化</a:t>
            </a:r>
          </a:p>
          <a:p>
            <a:pPr>
              <a:spcAft>
                <a:spcPts val="400"/>
              </a:spcAft>
              <a:defRPr sz="1150" b="0">
                <a:solidFill>
                  <a:srgbClr val="3A3A3A"/>
                </a:solidFill>
                <a:latin typeface="Microsoft YaHei"/>
              </a:defRPr>
            </a:pPr>
            <a:r>
              <a:t>② 完成标准：每步末尾附checklist，变成自动验收条件</a:t>
            </a:r>
          </a:p>
          <a:p>
            <a:pPr>
              <a:spcAft>
                <a:spcPts val="400"/>
              </a:spcAft>
              <a:defRPr sz="1150" b="0">
                <a:solidFill>
                  <a:srgbClr val="3A3A3A"/>
                </a:solidFill>
                <a:latin typeface="Microsoft YaHei"/>
              </a:defRPr>
            </a:pPr>
            <a:r>
              <a:t>③ 文件标注：[新建]/[修改] 让AI知道操作类型</a:t>
            </a:r>
          </a:p>
          <a:p>
            <a:pPr>
              <a:spcAft>
                <a:spcPts val="400"/>
              </a:spcAft>
              <a:defRPr sz="1150" b="0">
                <a:solidFill>
                  <a:srgbClr val="3A3A3A"/>
                </a:solidFill>
                <a:latin typeface="Microsoft YaHei"/>
              </a:defRPr>
            </a:pPr>
            <a:r>
              <a:t>④ 独立可执行：每个步骤描述足够完整，新AI会话可直接实施</a:t>
            </a:r>
          </a:p>
          <a:p>
            <a:pPr>
              <a:spcAft>
                <a:spcPts val="400"/>
              </a:spcAft>
              <a:defRPr sz="4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200" b="1">
                <a:solidFill>
                  <a:srgbClr val="1A1A1A"/>
                </a:solidFill>
                <a:latin typeface="Microsoft YaHei"/>
              </a:defRPr>
            </a:pPr>
            <a:r>
              <a:t>"每个步骤要足够完整，让新的AI会话能独立理解并执行"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383280"/>
            <a:ext cx="5486400" cy="30175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🚀 规划 → 编码：一句命令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233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t>规划全部完成后...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2200" b="1">
                <a:solidFill>
                  <a:srgbClr val="1A1A1A"/>
                </a:solidFill>
                <a:latin typeface="Microsoft YaHei"/>
              </a:defRPr>
            </a:pPr>
            <a:r>
              <a:t>"从1开始，逐步推进"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AI 就按照开发计划.md 的依赖关系顺序，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一步一验收，逐步实现了整个项目。</a:t>
            </a:r>
          </a:p>
          <a:p>
            <a:pPr>
              <a:spcAft>
                <a:spcPts val="400"/>
              </a:spcAft>
              <a:defRPr sz="800" b="0">
                <a:solidFill>
                  <a:srgbClr val="3A3A3A"/>
                </a:solidFill>
                <a:latin typeface="Microsoft YaHei"/>
              </a:defRPr>
            </a:pPr>
            <a:endParaRPr/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Microsoft YaHei"/>
              </a:defRPr>
            </a:pPr>
            <a:r>
              <a:t>约50轮 Prompt，1天完成从零到上线。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0601" y="62884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rPr dirty="0"/>
              <a:t>5步规划流程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优势、不足、自评分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7A7A"/>
                </a:solidFill>
                <a:latin typeface="Microsoft YaHei"/>
              </a:defRPr>
            </a:pPr>
            <a:r>
              <a:t>答辩必答题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🏆 我们组的优势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🎯 需求明确：PRD+UI规范+12步计划，每步有完成标准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🏗️ 架构完整：前端SPA+Flask后端+SQLite+云端部署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🔄 渐进式：严格按依赖关系分步推进→基础→功能→增强→部署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💬 Prompt规范：每步带"目标+文件+做什么+完成标准"四要素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🐛 问题记录完善：循环导入/参数错误/依赖缺失等7个典型问题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🔧 我们的不足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📱 无移动端适配：仅700px响应式，未做手机端专项适配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🧪 无自动化测试：完全依赖人工验证，无单元测试覆盖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🔒 安全简化：bcrypt→SHA-256，PyJWT→HMAC，企业级不够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🛒 无邮箱/找回密码：用户系统缺少账户恢复机制</a:t>
            </a:r>
          </a:p>
          <a:p>
            <a:pPr>
              <a:spcAft>
                <a:spcPts val="400"/>
              </a:spcAft>
              <a:defRPr sz="1200" b="0">
                <a:solidFill>
                  <a:srgbClr val="3A3A3A"/>
                </a:solidFill>
                <a:latin typeface="Microsoft YaHei"/>
              </a:defRPr>
            </a:pPr>
            <a:r>
              <a:t>📊 未接AI推荐理由：Step 11(AI增强)未实施，仅规则模板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solidFill>
            <a:srgbClr val="FFF6D5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📊 自评分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03489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rPr dirty="0" err="1"/>
              <a:t>评级：A</a:t>
            </a:r>
            <a:r>
              <a:rPr dirty="0"/>
              <a:t> 档</a:t>
            </a:r>
          </a:p>
          <a:p>
            <a:pPr>
              <a:spcAft>
                <a:spcPts val="400"/>
              </a:spcAft>
              <a:defRPr sz="600" b="0">
                <a:solidFill>
                  <a:srgbClr val="3A3A3A"/>
                </a:solidFill>
                <a:latin typeface="Microsoft YaHei"/>
              </a:defRPr>
            </a:pPr>
            <a:endParaRPr dirty="0"/>
          </a:p>
          <a:p>
            <a:pPr>
              <a:spcAft>
                <a:spcPts val="400"/>
              </a:spcAft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rPr dirty="0" err="1"/>
              <a:t>理由</a:t>
            </a:r>
            <a:r>
              <a:rPr dirty="0"/>
              <a:t>：</a:t>
            </a:r>
          </a:p>
          <a:p>
            <a:pPr>
              <a:spcAft>
                <a:spcPts val="400"/>
              </a:spcAft>
              <a:defRPr sz="130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• 系统完整可用：6页面SPA + 14个API端点 + </a:t>
            </a:r>
            <a:r>
              <a:rPr dirty="0" err="1"/>
              <a:t>云端部署</a:t>
            </a:r>
            <a:r>
              <a:rPr dirty="0"/>
              <a:t> + </a:t>
            </a:r>
            <a:r>
              <a:rPr dirty="0" err="1"/>
              <a:t>公网可访问</a:t>
            </a:r>
            <a:endParaRPr dirty="0"/>
          </a:p>
          <a:p>
            <a:pPr>
              <a:spcAft>
                <a:spcPts val="400"/>
              </a:spcAft>
              <a:defRPr sz="130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• </a:t>
            </a:r>
            <a:r>
              <a:rPr dirty="0" err="1"/>
              <a:t>遵循Vibe</a:t>
            </a:r>
            <a:r>
              <a:rPr dirty="0"/>
              <a:t> </a:t>
            </a:r>
            <a:r>
              <a:rPr dirty="0" err="1"/>
              <a:t>Coding三步要求：逻辑先行</a:t>
            </a:r>
            <a:r>
              <a:rPr dirty="0"/>
              <a:t>(5份规划文档)→</a:t>
            </a:r>
            <a:r>
              <a:rPr dirty="0" err="1"/>
              <a:t>渐进式</a:t>
            </a:r>
            <a:r>
              <a:rPr dirty="0"/>
              <a:t>(12步逐层构建)→</a:t>
            </a:r>
            <a:r>
              <a:rPr dirty="0" err="1"/>
              <a:t>责任归属</a:t>
            </a:r>
            <a:r>
              <a:rPr dirty="0"/>
              <a:t>(7个AI错误被找出并修复)</a:t>
            </a:r>
          </a:p>
          <a:p>
            <a:pPr>
              <a:spcAft>
                <a:spcPts val="400"/>
              </a:spcAft>
              <a:defRPr sz="1300" b="0">
                <a:solidFill>
                  <a:srgbClr val="3A3A3A"/>
                </a:solidFill>
                <a:latin typeface="Microsoft YaHei"/>
              </a:defRPr>
            </a:pPr>
            <a:r>
              <a:rPr dirty="0"/>
              <a:t>• </a:t>
            </a:r>
            <a:r>
              <a:rPr dirty="0" err="1"/>
              <a:t>有详细的Prompt记录</a:t>
            </a:r>
            <a:r>
              <a:rPr dirty="0"/>
              <a:t>(第6页)</a:t>
            </a:r>
            <a:r>
              <a:rPr dirty="0" err="1"/>
              <a:t>和AI纠错案例</a:t>
            </a:r>
            <a:r>
              <a:rPr dirty="0"/>
              <a:t>(第7页)，</a:t>
            </a:r>
            <a:r>
              <a:rPr dirty="0" err="1"/>
              <a:t>小组分工明确</a:t>
            </a:r>
            <a:r>
              <a:rPr dirty="0"/>
              <a:t>(第4页)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Microsoft YaHei"/>
              </a:defRPr>
            </a:pPr>
            <a:r>
              <a:t>答辩分工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分工表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828800"/>
          <a:ext cx="9144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环节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负责人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页码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时长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需求/设计文档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组员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第2-3页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需求背景→架构设计→12步依赖关系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~1.5min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Vibe Coding规划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组员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第9页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5步规划过程(需求→PRD→计划→Demo→规范)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~1min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系统演示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组员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第5页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6个演示点全程操作展示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~2min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Prompt+纠错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组员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第6-7页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最棒Prompt分析+3个AI犯错案例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~1.5min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反思+必答题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组员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第8/10页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反思+优势/不足+自评A档理由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~1min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297680"/>
            <a:ext cx="11247120" cy="2103120"/>
          </a:xfrm>
          <a:prstGeom prst="rect">
            <a:avLst/>
          </a:prstGeom>
          <a:solidFill>
            <a:srgbClr val="FFFFFF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Microsoft YaHei"/>
              </a:defRPr>
            </a:pPr>
            <a:r>
              <a:t>关键数据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846320"/>
          <a:ext cx="9235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FFED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项目文件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31个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总代码行数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~3500行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前端JS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15个文件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后端Python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6个文件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数据库表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3张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API端点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14个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Git提交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13次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Prompt轮次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~50轮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外部依赖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A3A3A"/>
                          </a:solidFill>
                          <a:latin typeface="Microsoft YaHei"/>
                        </a:defRPr>
                      </a:pPr>
                      <a:r>
                        <a:t>仅Flask+Chart.js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DCF78-FB22-091F-38FF-03214B07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EF4F5B-E6C6-BF28-2EB7-B48D07F5068B}"/>
              </a:ext>
            </a:extLst>
          </p:cNvPr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3C2EB1-B28B-C01A-5A8B-612C5C3AD3B7}"/>
              </a:ext>
            </a:extLst>
          </p:cNvPr>
          <p:cNvSpPr/>
          <p:nvPr/>
        </p:nvSpPr>
        <p:spPr>
          <a:xfrm>
            <a:off x="2184077" y="1526104"/>
            <a:ext cx="7711828" cy="2196890"/>
          </a:xfrm>
          <a:prstGeom prst="roundRect">
            <a:avLst/>
          </a:prstGeom>
          <a:solidFill>
            <a:srgbClr val="FFEDB3"/>
          </a:solidFill>
          <a:ln w="381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39A1E8-E6EC-2989-0FCA-5F04F13B67EB}"/>
              </a:ext>
            </a:extLst>
          </p:cNvPr>
          <p:cNvSpPr txBox="1"/>
          <p:nvPr/>
        </p:nvSpPr>
        <p:spPr>
          <a:xfrm>
            <a:off x="3066096" y="2116717"/>
            <a:ext cx="605950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Microsoft YaHei"/>
              </a:defRPr>
            </a:pPr>
            <a:r>
              <a:rPr lang="en-US" sz="6000" dirty="0"/>
              <a:t>THANK YOU !</a:t>
            </a:r>
            <a:endParaRPr sz="6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0536D1-DAD8-EC69-821E-327FE50B3574}"/>
              </a:ext>
            </a:extLst>
          </p:cNvPr>
          <p:cNvSpPr txBox="1"/>
          <p:nvPr/>
        </p:nvSpPr>
        <p:spPr>
          <a:xfrm>
            <a:off x="931525" y="4248790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A7A7A"/>
                </a:solidFill>
                <a:latin typeface="Microsoft YaHei"/>
              </a:defRPr>
            </a:pPr>
            <a:r>
              <a:rPr dirty="0"/>
              <a:t>Python </a:t>
            </a:r>
            <a:r>
              <a:rPr dirty="0" err="1"/>
              <a:t>程序设计课程大作业</a:t>
            </a:r>
            <a:r>
              <a:rPr dirty="0"/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B368B-0B07-CE0F-D4A0-642BD67C372E}"/>
              </a:ext>
            </a:extLst>
          </p:cNvPr>
          <p:cNvSpPr txBox="1"/>
          <p:nvPr/>
        </p:nvSpPr>
        <p:spPr>
          <a:xfrm>
            <a:off x="929487" y="4696897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rPr dirty="0"/>
              <a:t>线上：dariaaaa.pythonanywhere.com  |  GitHub：dongyifei0502/choice-terminator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87A2C-1E02-3271-EF92-A1123B2A7B1C}"/>
              </a:ext>
            </a:extLst>
          </p:cNvPr>
          <p:cNvSpPr txBox="1"/>
          <p:nvPr/>
        </p:nvSpPr>
        <p:spPr>
          <a:xfrm>
            <a:off x="914400" y="5760720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A3A3A"/>
                </a:solidFill>
                <a:latin typeface="Microsoft YaHei"/>
              </a:defRPr>
            </a:pPr>
            <a:r>
              <a:rPr dirty="0" err="1"/>
              <a:t>组员</a:t>
            </a:r>
            <a:r>
              <a:rPr dirty="0"/>
              <a:t>：</a:t>
            </a:r>
            <a:r>
              <a:rPr lang="zh-CN" alt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董一霏</a:t>
            </a:r>
            <a:r>
              <a:rPr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r>
              <a:rPr lang="zh-CN" alt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王佳慧</a:t>
            </a:r>
            <a:r>
              <a:rPr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r>
              <a:rPr lang="zh-CN" alt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陶曼曼</a:t>
            </a:r>
            <a:r>
              <a:rPr sz="1400" dirty="0">
                <a:solidFill>
                  <a:srgbClr val="3A3A3A"/>
                </a:solidFill>
                <a:latin typeface="Microsoft YaHei"/>
              </a:rPr>
              <a:t>  |  </a:t>
            </a:r>
            <a:r>
              <a:rPr sz="1400" dirty="0" err="1">
                <a:solidFill>
                  <a:srgbClr val="3A3A3A"/>
                </a:solidFill>
                <a:latin typeface="Microsoft YaHei"/>
              </a:rPr>
              <a:t>讲师：</a:t>
            </a:r>
            <a:r>
              <a:rPr sz="1400" dirty="0" err="1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李承浩</a:t>
            </a:r>
            <a:r>
              <a:rPr 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洪潇</a:t>
            </a:r>
            <a:r>
              <a:rPr lang="en-US"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400" dirty="0">
                <a:solidFill>
                  <a:srgbClr val="3A3A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dirty="0"/>
              <a:t>|  2026-06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720C37-44F5-3971-0742-D948004C585F}"/>
              </a:ext>
            </a:extLst>
          </p:cNvPr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7BEE3E-E5F1-EA52-EC54-4824C1364357}"/>
              </a:ext>
            </a:extLst>
          </p:cNvPr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7A7A"/>
                </a:solidFill>
                <a:latin typeface="Microsoft YaHei"/>
              </a:defRPr>
            </a:pPr>
            <a: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396812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1667</Words>
  <Application>Microsoft Office PowerPoint</Application>
  <PresentationFormat>宽屏</PresentationFormat>
  <Paragraphs>387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微软雅黑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一霏 董</cp:lastModifiedBy>
  <cp:revision>2</cp:revision>
  <dcterms:created xsi:type="dcterms:W3CDTF">2013-01-27T09:14:16Z</dcterms:created>
  <dcterms:modified xsi:type="dcterms:W3CDTF">2026-06-10T14:43:46Z</dcterms:modified>
  <cp:category/>
</cp:coreProperties>
</file>